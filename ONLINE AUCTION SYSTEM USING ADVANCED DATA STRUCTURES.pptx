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1BFA6-3F52-4C43-BF80-354D7FEAC20F}" v="109" dt="2026-04-17T10:06:22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Maheer" userId="449228d180701f60" providerId="LiveId" clId="{64B1EA5A-90C4-438A-A7AC-00BC0437A359}"/>
    <pc:docChg chg="modSld">
      <pc:chgData name="Shaik Maheer" userId="449228d180701f60" providerId="LiveId" clId="{64B1EA5A-90C4-438A-A7AC-00BC0437A359}" dt="2026-04-17T10:06:22.618" v="123"/>
      <pc:docMkLst>
        <pc:docMk/>
      </pc:docMkLst>
      <pc:sldChg chg="modAnim">
        <pc:chgData name="Shaik Maheer" userId="449228d180701f60" providerId="LiveId" clId="{64B1EA5A-90C4-438A-A7AC-00BC0437A359}" dt="2026-04-17T10:03:55.976" v="113"/>
        <pc:sldMkLst>
          <pc:docMk/>
          <pc:sldMk cId="551039708" sldId="256"/>
        </pc:sldMkLst>
      </pc:sldChg>
      <pc:sldChg chg="modAnim">
        <pc:chgData name="Shaik Maheer" userId="449228d180701f60" providerId="LiveId" clId="{64B1EA5A-90C4-438A-A7AC-00BC0437A359}" dt="2026-04-17T10:04:20.552" v="114"/>
        <pc:sldMkLst>
          <pc:docMk/>
          <pc:sldMk cId="51676740" sldId="257"/>
        </pc:sldMkLst>
      </pc:sldChg>
      <pc:sldChg chg="modAnim">
        <pc:chgData name="Shaik Maheer" userId="449228d180701f60" providerId="LiveId" clId="{64B1EA5A-90C4-438A-A7AC-00BC0437A359}" dt="2026-04-17T10:04:27.204" v="115"/>
        <pc:sldMkLst>
          <pc:docMk/>
          <pc:sldMk cId="1981376982" sldId="258"/>
        </pc:sldMkLst>
      </pc:sldChg>
      <pc:sldChg chg="modAnim">
        <pc:chgData name="Shaik Maheer" userId="449228d180701f60" providerId="LiveId" clId="{64B1EA5A-90C4-438A-A7AC-00BC0437A359}" dt="2026-04-17T10:04:32.476" v="116"/>
        <pc:sldMkLst>
          <pc:docMk/>
          <pc:sldMk cId="2131895038" sldId="259"/>
        </pc:sldMkLst>
      </pc:sldChg>
      <pc:sldChg chg="modAnim">
        <pc:chgData name="Shaik Maheer" userId="449228d180701f60" providerId="LiveId" clId="{64B1EA5A-90C4-438A-A7AC-00BC0437A359}" dt="2026-04-17T10:04:38.943" v="117"/>
        <pc:sldMkLst>
          <pc:docMk/>
          <pc:sldMk cId="1497353450" sldId="260"/>
        </pc:sldMkLst>
      </pc:sldChg>
      <pc:sldChg chg="modAnim">
        <pc:chgData name="Shaik Maheer" userId="449228d180701f60" providerId="LiveId" clId="{64B1EA5A-90C4-438A-A7AC-00BC0437A359}" dt="2026-04-17T10:04:49.666" v="118"/>
        <pc:sldMkLst>
          <pc:docMk/>
          <pc:sldMk cId="682695386" sldId="261"/>
        </pc:sldMkLst>
      </pc:sldChg>
      <pc:sldChg chg="modAnim">
        <pc:chgData name="Shaik Maheer" userId="449228d180701f60" providerId="LiveId" clId="{64B1EA5A-90C4-438A-A7AC-00BC0437A359}" dt="2026-04-17T10:04:54.182" v="119"/>
        <pc:sldMkLst>
          <pc:docMk/>
          <pc:sldMk cId="2592218500" sldId="262"/>
        </pc:sldMkLst>
      </pc:sldChg>
      <pc:sldChg chg="modAnim">
        <pc:chgData name="Shaik Maheer" userId="449228d180701f60" providerId="LiveId" clId="{64B1EA5A-90C4-438A-A7AC-00BC0437A359}" dt="2026-04-17T10:06:22.618" v="123"/>
        <pc:sldMkLst>
          <pc:docMk/>
          <pc:sldMk cId="3595136543" sldId="263"/>
        </pc:sldMkLst>
      </pc:sldChg>
      <pc:sldChg chg="addSp delSp modSp mod modAnim">
        <pc:chgData name="Shaik Maheer" userId="449228d180701f60" providerId="LiveId" clId="{64B1EA5A-90C4-438A-A7AC-00BC0437A359}" dt="2026-04-17T10:05:10.548" v="121"/>
        <pc:sldMkLst>
          <pc:docMk/>
          <pc:sldMk cId="3952292746" sldId="264"/>
        </pc:sldMkLst>
        <pc:spChg chg="mod">
          <ac:chgData name="Shaik Maheer" userId="449228d180701f60" providerId="LiveId" clId="{64B1EA5A-90C4-438A-A7AC-00BC0437A359}" dt="2026-04-17T07:43:50.511" v="100" actId="1076"/>
          <ac:spMkLst>
            <pc:docMk/>
            <pc:sldMk cId="3952292746" sldId="264"/>
            <ac:spMk id="2" creationId="{D8B3E475-3450-F2C9-226E-C411288B31BD}"/>
          </ac:spMkLst>
        </pc:spChg>
        <pc:spChg chg="del">
          <ac:chgData name="Shaik Maheer" userId="449228d180701f60" providerId="LiveId" clId="{64B1EA5A-90C4-438A-A7AC-00BC0437A359}" dt="2026-04-17T07:28:39.527" v="1"/>
          <ac:spMkLst>
            <pc:docMk/>
            <pc:sldMk cId="3952292746" sldId="264"/>
            <ac:spMk id="3" creationId="{F5438127-0A57-8EFC-9174-78695FDAA42D}"/>
          </ac:spMkLst>
        </pc:spChg>
        <pc:picChg chg="add mod ord">
          <ac:chgData name="Shaik Maheer" userId="449228d180701f60" providerId="LiveId" clId="{64B1EA5A-90C4-438A-A7AC-00BC0437A359}" dt="2026-04-17T07:28:48.116" v="4" actId="14100"/>
          <ac:picMkLst>
            <pc:docMk/>
            <pc:sldMk cId="3952292746" sldId="264"/>
            <ac:picMk id="5" creationId="{547E12CA-A6F0-3A7E-05BB-6541C6A5EC1C}"/>
          </ac:picMkLst>
        </pc:picChg>
      </pc:sldChg>
      <pc:sldChg chg="modSp mod modAnim">
        <pc:chgData name="Shaik Maheer" userId="449228d180701f60" providerId="LiveId" clId="{64B1EA5A-90C4-438A-A7AC-00BC0437A359}" dt="2026-04-17T10:05:15.879" v="122"/>
        <pc:sldMkLst>
          <pc:docMk/>
          <pc:sldMk cId="182973240" sldId="265"/>
        </pc:sldMkLst>
        <pc:spChg chg="mod">
          <ac:chgData name="Shaik Maheer" userId="449228d180701f60" providerId="LiveId" clId="{64B1EA5A-90C4-438A-A7AC-00BC0437A359}" dt="2026-04-17T08:56:45.446" v="106" actId="1076"/>
          <ac:spMkLst>
            <pc:docMk/>
            <pc:sldMk cId="182973240" sldId="265"/>
            <ac:spMk id="2" creationId="{DB1546C0-3748-9997-FD8B-C9A363848DFB}"/>
          </ac:spMkLst>
        </pc:spChg>
        <pc:spChg chg="mod">
          <ac:chgData name="Shaik Maheer" userId="449228d180701f60" providerId="LiveId" clId="{64B1EA5A-90C4-438A-A7AC-00BC0437A359}" dt="2026-04-17T08:56:19.988" v="101"/>
          <ac:spMkLst>
            <pc:docMk/>
            <pc:sldMk cId="182973240" sldId="265"/>
            <ac:spMk id="3" creationId="{9752E25F-8CAA-1D5B-9669-8CF06A735A60}"/>
          </ac:spMkLst>
        </pc:spChg>
        <pc:picChg chg="mod">
          <ac:chgData name="Shaik Maheer" userId="449228d180701f60" providerId="LiveId" clId="{64B1EA5A-90C4-438A-A7AC-00BC0437A359}" dt="2026-04-17T08:57:13.439" v="112" actId="14100"/>
          <ac:picMkLst>
            <pc:docMk/>
            <pc:sldMk cId="182973240" sldId="265"/>
            <ac:picMk id="4" creationId="{944B9649-9C0A-488F-AF04-1C6608D531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FDAD-FB30-6817-EC8B-601F0A74D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E6440-1682-EA2C-5DD3-5F0936EC5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FAA9E-FCD5-F214-98E1-F89F5C08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F7F66-94E3-D431-2D21-4CBB2305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B4E5-8EEF-5399-CA76-51EE6D24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2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6545-440F-CE95-9ED2-4D05BFCB3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2B8B0-4B60-970E-B767-5095F46BE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3B20D-5496-118A-5F65-781EDCC9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659A-5A79-8D00-2B5C-C1A05B92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FBA66-B921-D6FC-598D-73A92E92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2FE7-C753-C1EF-F11D-5F6CAFC30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E554-672E-2601-DA79-12F975B2D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ACA5F-3A49-C48A-D57E-ABD48978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E5878-4339-4000-1346-85BC2E73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11198-7661-6310-2DA1-52524B16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17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D80A-4F8F-4227-0413-8365F69E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7C80-CA04-5216-38E4-DDCB1FE1B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E6280-E63C-2211-ED4A-3292EDB3B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8142F-7AC2-0743-DABC-16943F22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4A6FA-4CA3-B5B3-28E6-BADAF160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9C244-8C25-1010-8C57-D993871A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4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D9BA-CB47-4299-0DCB-73DC9AC6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AC580-B19B-82EF-7926-22482ED64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96AB-D964-9956-AFDF-C4B92E7D0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567086-7817-705E-90A7-B46FD790D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FB993-FB27-7D5D-C396-520F82397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6496C-FC49-1336-CE73-560297DA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73FAB-1AB3-8BF0-1B34-838D7F2D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5388A-2246-3196-75AB-B0679E65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92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64CCD-907F-F21C-83B1-2E983F92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072AA-0BBE-D0FA-FEEC-9A4D4FAA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8EFB4-5116-F89E-7622-B12221C1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0D895-8A63-8921-BBEC-90FD1E87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80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B7ADB-CB6E-C454-F797-C57D5316C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B0AD9-E3CC-5756-FD22-1BAABB76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3EFB3-F0B8-CBB4-0C6C-8485F284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82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A53F-0B02-D269-575B-388CEDDD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150ED-11E7-C2E9-99E4-1649FB7AD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98D9C-DFB6-8485-B47D-FEB645C97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A5ACF-3878-7211-FF08-AD8B4A3B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36459-FE3B-50C5-CE59-AAB7A4CA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7661A-F5FA-E3BF-5991-0B72462D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23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4635-CF04-B1DB-8698-BDDB9AFE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47340-4D23-C6D8-90E9-A78EED6F2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B3C5E-D1A4-DABC-FA41-68E124353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AB20A-8A00-824D-FE53-77FB1C6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7C828-04C0-AA0B-004C-552BF0A9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26FCC-D4CF-4409-ECF9-4155EAA4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33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F245-45F4-9D19-E191-6B3574F4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67CD1-7D97-C181-00AD-3BE1B9895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40FC0-3DE1-F18A-2512-9CED8BEC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9070-EE04-FA2A-ACF3-0EC98081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63C32-6B47-3A5E-7CB1-B550CA1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97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A4B29-CFFD-43FE-FADE-79E916B95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6A80D-C88C-302C-0FEE-725E3E653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B30B-34C1-4F0A-1C72-AB057EC3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955E0-D4DD-D7B8-B3EA-7EA1FB64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AD716-8FE8-1199-94B4-611A99B3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02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951057-118D-6469-81B5-DEEFEE2A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A9DD-85A3-6C7F-66AA-3541E4AC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35E2C-4A92-AFEC-EBC3-C82767039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FE3B-F659-4B59-8C62-4939DC5BCA0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8EF4E-58F8-3199-C25F-0BD5CE138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0538-C2FD-762B-213D-EF3A848BF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01B52-702A-447A-8D9D-B77E532D4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30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7B55-4FFB-CE02-D7E7-53F186E9B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109727"/>
            <a:ext cx="10863072" cy="1342835"/>
          </a:xfrm>
        </p:spPr>
        <p:txBody>
          <a:bodyPr>
            <a:normAutofit/>
          </a:bodyPr>
          <a:lstStyle/>
          <a:p>
            <a:r>
              <a:rPr lang="en-US" sz="4000"/>
              <a:t>ONLINE AUCTION SYSTEM USING ADVANCED DATA STRUCTURES</a:t>
            </a:r>
            <a:endParaRPr lang="en-IN" sz="4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D1DEE-28D4-69B3-143E-CA2EB670A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92110"/>
            <a:ext cx="11249025" cy="4194365"/>
          </a:xfrm>
        </p:spPr>
        <p:txBody>
          <a:bodyPr>
            <a:normAutofit/>
          </a:bodyPr>
          <a:lstStyle/>
          <a:p>
            <a:r>
              <a:rPr lang="en-US" b="1" dirty="0"/>
              <a:t>Presented By:</a:t>
            </a:r>
            <a:endParaRPr lang="en-US" dirty="0"/>
          </a:p>
          <a:p>
            <a:r>
              <a:rPr lang="en-US" b="1" dirty="0"/>
              <a:t>                                                1.</a:t>
            </a:r>
            <a:r>
              <a:rPr lang="en-US" dirty="0"/>
              <a:t>Shaik Maheer </a:t>
            </a:r>
          </a:p>
          <a:p>
            <a:r>
              <a:rPr lang="en-US" b="1" dirty="0"/>
              <a:t>                                                                             2.</a:t>
            </a:r>
            <a:r>
              <a:rPr lang="en-IN" dirty="0"/>
              <a:t> Nanjala Vikram Karthikeya</a:t>
            </a:r>
          </a:p>
          <a:p>
            <a:r>
              <a:rPr lang="en-IN" b="1" dirty="0"/>
              <a:t>Course</a:t>
            </a:r>
            <a:r>
              <a:rPr lang="en-IN" dirty="0"/>
              <a:t>:  </a:t>
            </a:r>
          </a:p>
          <a:p>
            <a:r>
              <a:rPr lang="en-IN" dirty="0"/>
              <a:t>                                                                                                 </a:t>
            </a:r>
            <a:r>
              <a:rPr lang="en-US" dirty="0" err="1"/>
              <a:t>B.Tech</a:t>
            </a:r>
            <a:r>
              <a:rPr lang="en-US" dirty="0"/>
              <a:t> in Computing and Data science</a:t>
            </a:r>
          </a:p>
          <a:p>
            <a:r>
              <a:rPr lang="en-IN" b="1" dirty="0"/>
              <a:t>       Institution: </a:t>
            </a:r>
            <a:br>
              <a:rPr lang="en-IN" dirty="0"/>
            </a:br>
            <a:r>
              <a:rPr lang="en-IN" dirty="0"/>
              <a:t>                                                Sai University</a:t>
            </a:r>
          </a:p>
          <a:p>
            <a:r>
              <a:rPr lang="en-US" b="1" dirty="0"/>
              <a:t>                         Technologies Used:</a:t>
            </a:r>
          </a:p>
          <a:p>
            <a:r>
              <a:rPr lang="en-US" b="1" dirty="0"/>
              <a:t>                                                                                    </a:t>
            </a:r>
            <a:r>
              <a:rPr lang="en-US" dirty="0"/>
              <a:t> C Programming, Data Structures</a:t>
            </a:r>
            <a:endParaRPr lang="en-IN" dirty="0"/>
          </a:p>
        </p:txBody>
      </p:sp>
      <p:pic>
        <p:nvPicPr>
          <p:cNvPr id="4" name="Picture 3" descr="No photo description available.">
            <a:extLst>
              <a:ext uri="{FF2B5EF4-FFF2-40B4-BE49-F238E27FC236}">
                <a16:creationId xmlns:a16="http://schemas.microsoft.com/office/drawing/2014/main" id="{14AAE17D-BB11-A2C3-B456-4FA19235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695449"/>
            <a:ext cx="4067175" cy="419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3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3D6C-3FEE-9681-7627-C108C54C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-15082"/>
            <a:ext cx="5362575" cy="1325563"/>
          </a:xfrm>
        </p:spPr>
        <p:txBody>
          <a:bodyPr>
            <a:normAutofit/>
          </a:bodyPr>
          <a:lstStyle/>
          <a:p>
            <a:r>
              <a:rPr lang="en-IN"/>
              <a:t>Problem Statement</a:t>
            </a:r>
            <a:r>
              <a:rPr lang="en-IN" sz="280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FE4E-C3CC-06A6-41F0-16109989E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5" y="1223962"/>
            <a:ext cx="10565511" cy="5386388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Module-Based Problem Statements</a:t>
            </a:r>
          </a:p>
          <a:p>
            <a:pPr marL="0" indent="0">
              <a:buNone/>
            </a:pPr>
            <a:r>
              <a:rPr lang="en-US" sz="9600" b="1" dirty="0"/>
              <a:t>1.Player Management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Develop a system to register and store auction participants dynamically using linked lists. </a:t>
            </a:r>
          </a:p>
          <a:p>
            <a:pPr marL="0" indent="0">
              <a:buNone/>
            </a:pPr>
            <a:r>
              <a:rPr lang="en-US" sz="9600" b="1" dirty="0"/>
              <a:t>2.Item Management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Create a mechanism to add, store, and display auction items efficiently. </a:t>
            </a:r>
          </a:p>
          <a:p>
            <a:pPr marL="0" indent="0">
              <a:buNone/>
            </a:pPr>
            <a:r>
              <a:rPr lang="en-US" sz="9600" b="1" dirty="0"/>
              <a:t>3.Bid Management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Implement a Max Heap to manage bids and retrieve the highest bid in optimal time. </a:t>
            </a:r>
          </a:p>
          <a:p>
            <a:pPr marL="0" indent="0">
              <a:buNone/>
            </a:pPr>
            <a:r>
              <a:rPr lang="en-US" sz="9600" b="1" dirty="0"/>
              <a:t>3.Bid Dependency Management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Use a Directed Acyclic Graph (DAG) to represent dependencies among bids and prevent cycles. </a:t>
            </a:r>
          </a:p>
          <a:p>
            <a:pPr marL="0" indent="0">
              <a:buNone/>
            </a:pPr>
            <a:r>
              <a:rPr lang="en-US" sz="9600" b="1" dirty="0"/>
              <a:t>4.Validation and Security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Ensure only registered players can place bids and that dependencies remain logically consistent. </a:t>
            </a:r>
          </a:p>
          <a:p>
            <a:pPr marL="0" indent="0">
              <a:buNone/>
            </a:pPr>
            <a:r>
              <a:rPr lang="en-US" sz="9600" b="1" dirty="0"/>
              <a:t>5.Data Persistence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Store auction details in a file for future reference and analysis. </a:t>
            </a:r>
          </a:p>
          <a:p>
            <a:pPr marL="0" indent="0">
              <a:buNone/>
            </a:pPr>
            <a:r>
              <a:rPr lang="en-US" sz="9600" b="1" dirty="0"/>
              <a:t>6.System Reporting</a:t>
            </a:r>
            <a:r>
              <a:rPr lang="en-US" sz="9600" dirty="0"/>
              <a:t> </a:t>
            </a:r>
          </a:p>
          <a:p>
            <a:pPr lvl="1"/>
            <a:r>
              <a:rPr lang="en-US" sz="8000" dirty="0"/>
              <a:t>Provide comprehensive displays of players, items, highest bids, and dependency graphs</a:t>
            </a:r>
            <a:r>
              <a:rPr lang="en-US" sz="9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7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E3BD-8FF0-FEA9-6465-057C8FEC5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5413248" cy="850425"/>
          </a:xfrm>
        </p:spPr>
        <p:txBody>
          <a:bodyPr>
            <a:normAutofit/>
          </a:bodyPr>
          <a:lstStyle/>
          <a:p>
            <a:r>
              <a:rPr lang="en-IN" sz="4000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3E80-3012-6DE7-C88F-2E153BD6E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2" y="868680"/>
            <a:ext cx="11173968" cy="58338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1.E-Commerce Platforms</a:t>
            </a:r>
            <a:endParaRPr lang="en-US" sz="2400" dirty="0"/>
          </a:p>
          <a:p>
            <a:r>
              <a:rPr lang="en-US" sz="2000" dirty="0"/>
              <a:t>Used in online marketplaces such as eBay and Amazon Auctions to sell products to the highest bidder.</a:t>
            </a:r>
          </a:p>
          <a:p>
            <a:pPr marL="0" indent="0">
              <a:buNone/>
            </a:pPr>
            <a:r>
              <a:rPr lang="en-US" sz="2400" b="1" dirty="0"/>
              <a:t>2.Government Tender and Procurement Systems</a:t>
            </a:r>
            <a:endParaRPr lang="en-US" sz="2400" dirty="0"/>
          </a:p>
          <a:p>
            <a:r>
              <a:rPr lang="en-US" sz="2000" dirty="0"/>
              <a:t>Organizations invite companies to bid for contracts, ensuring fair and transparent selection.</a:t>
            </a:r>
          </a:p>
          <a:p>
            <a:pPr marL="0" indent="0">
              <a:buNone/>
            </a:pPr>
            <a:r>
              <a:rPr lang="en-US" sz="2400" b="1" dirty="0"/>
              <a:t>3.IPL and Sports Player Auctions</a:t>
            </a:r>
            <a:endParaRPr lang="en-US" sz="2400" dirty="0"/>
          </a:p>
          <a:p>
            <a:r>
              <a:rPr lang="en-US" sz="2000" dirty="0"/>
              <a:t>Teams bid for players in leagues like the Indian Premier League (IPL).</a:t>
            </a:r>
          </a:p>
          <a:p>
            <a:pPr marL="0" indent="0">
              <a:buNone/>
            </a:pPr>
            <a:r>
              <a:rPr lang="en-US" sz="2400" b="1" dirty="0"/>
              <a:t>4.Real Estate and Property Bidding Systems</a:t>
            </a:r>
            <a:r>
              <a:rPr lang="en-US" sz="2400" dirty="0"/>
              <a:t> </a:t>
            </a:r>
          </a:p>
          <a:p>
            <a:r>
              <a:rPr lang="en-US" sz="2000" dirty="0"/>
              <a:t>Properties and land are auctioned to buyers offering the highest price.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500" b="1" dirty="0"/>
              <a:t>Benefits of the System</a:t>
            </a:r>
          </a:p>
          <a:p>
            <a:r>
              <a:rPr lang="en-US" sz="2600" b="1" dirty="0"/>
              <a:t>Automation and Accuracy</a:t>
            </a:r>
            <a:r>
              <a:rPr lang="en-US" sz="2600" dirty="0"/>
              <a:t> </a:t>
            </a:r>
          </a:p>
          <a:p>
            <a:pPr lvl="1"/>
            <a:r>
              <a:rPr lang="en-US" sz="2200" dirty="0"/>
              <a:t>Reduces manual work and minimizes human errors. </a:t>
            </a:r>
          </a:p>
          <a:p>
            <a:r>
              <a:rPr lang="en-US" sz="2600" b="1" dirty="0"/>
              <a:t>Transparency in Bidding</a:t>
            </a:r>
            <a:r>
              <a:rPr lang="en-US" sz="2600" dirty="0"/>
              <a:t> </a:t>
            </a:r>
          </a:p>
          <a:p>
            <a:pPr lvl="1"/>
            <a:r>
              <a:rPr lang="en-US" sz="2200" dirty="0"/>
              <a:t>Ensures fairness and builds trust among participants. </a:t>
            </a:r>
          </a:p>
          <a:p>
            <a:r>
              <a:rPr lang="en-US" sz="2600" b="1" dirty="0"/>
              <a:t>Efficient Decision-Making</a:t>
            </a:r>
            <a:r>
              <a:rPr lang="en-US" sz="2600" dirty="0"/>
              <a:t> </a:t>
            </a:r>
          </a:p>
          <a:p>
            <a:pPr lvl="1"/>
            <a:r>
              <a:rPr lang="en-US" sz="2200" dirty="0"/>
              <a:t>Quickly identifies the highest bid using optimized data structures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37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27D1-6EFF-F473-F1F1-003A535C9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" y="0"/>
            <a:ext cx="6230112" cy="950976"/>
          </a:xfrm>
        </p:spPr>
        <p:txBody>
          <a:bodyPr/>
          <a:lstStyle/>
          <a:p>
            <a:r>
              <a:rPr lang="en-IN"/>
              <a:t>Data Structures Used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5F6F56-BFEB-357E-0B52-9D116B6EF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261712"/>
              </p:ext>
            </p:extLst>
          </p:nvPr>
        </p:nvGraphicFramePr>
        <p:xfrm>
          <a:off x="256032" y="1116203"/>
          <a:ext cx="11524488" cy="50292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762244">
                  <a:extLst>
                    <a:ext uri="{9D8B030D-6E8A-4147-A177-3AD203B41FA5}">
                      <a16:colId xmlns:a16="http://schemas.microsoft.com/office/drawing/2014/main" val="3472828707"/>
                    </a:ext>
                  </a:extLst>
                </a:gridCol>
                <a:gridCol w="5762244">
                  <a:extLst>
                    <a:ext uri="{9D8B030D-6E8A-4147-A177-3AD203B41FA5}">
                      <a16:colId xmlns:a16="http://schemas.microsoft.com/office/drawing/2014/main" val="348910603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3191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players and items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14283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 Heap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Determines the highest bid efficiently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16136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Directed Acyclic Graph (DAG)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Manages bid dependencies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05830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Adjacency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Represents relationships between bids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7752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Stores bids and graph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46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89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F77-A2CD-08B9-9FCF-2362D3BE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636008" cy="1152144"/>
          </a:xfrm>
        </p:spPr>
        <p:txBody>
          <a:bodyPr/>
          <a:lstStyle/>
          <a:p>
            <a:r>
              <a:rPr lang="en-IN"/>
              <a:t>System Design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D5F7-FD9E-E193-5626-8C0F2EBFA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350137"/>
            <a:ext cx="8622792" cy="4667250"/>
          </a:xfrm>
        </p:spPr>
        <p:txBody>
          <a:bodyPr>
            <a:normAutofit fontScale="40000" lnSpcReduction="20000"/>
          </a:bodyPr>
          <a:lstStyle/>
          <a:p>
            <a:r>
              <a:rPr lang="en-US" sz="7000" b="1" dirty="0"/>
              <a:t>Modules of the System:</a:t>
            </a:r>
            <a:endParaRPr lang="en-US" sz="7000" dirty="0"/>
          </a:p>
          <a:p>
            <a:pPr marL="0" indent="0">
              <a:buNone/>
            </a:pPr>
            <a:r>
              <a:rPr lang="en-US" sz="5000" dirty="0"/>
              <a:t>1.Player Management </a:t>
            </a:r>
          </a:p>
          <a:p>
            <a:pPr marL="0" indent="0">
              <a:buNone/>
            </a:pPr>
            <a:r>
              <a:rPr lang="en-US" sz="5000" dirty="0"/>
              <a:t>2.Item Management </a:t>
            </a:r>
          </a:p>
          <a:p>
            <a:pPr marL="0" indent="0">
              <a:buNone/>
            </a:pPr>
            <a:r>
              <a:rPr lang="en-US" sz="5000" dirty="0"/>
              <a:t>3.Bid Management </a:t>
            </a:r>
          </a:p>
          <a:p>
            <a:pPr marL="0" indent="0">
              <a:buNone/>
            </a:pPr>
            <a:r>
              <a:rPr lang="en-US" sz="5000" dirty="0"/>
              <a:t>4.Dependency Management </a:t>
            </a:r>
          </a:p>
          <a:p>
            <a:pPr marL="0" indent="0">
              <a:buNone/>
            </a:pPr>
            <a:r>
              <a:rPr lang="en-US" sz="5000" dirty="0"/>
              <a:t>5.File Handling 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7000" b="1" dirty="0"/>
              <a:t>Workflow:</a:t>
            </a:r>
            <a:endParaRPr lang="en-US" sz="7000" dirty="0"/>
          </a:p>
          <a:p>
            <a:pPr marL="0" indent="0">
              <a:buNone/>
            </a:pPr>
            <a:r>
              <a:rPr lang="en-US" sz="5100" dirty="0"/>
              <a:t>1.Register players. </a:t>
            </a:r>
          </a:p>
          <a:p>
            <a:pPr marL="0" indent="0">
              <a:buNone/>
            </a:pPr>
            <a:r>
              <a:rPr lang="en-US" sz="5100" dirty="0"/>
              <a:t>2.Add items for auction. </a:t>
            </a:r>
          </a:p>
          <a:p>
            <a:pPr marL="0" indent="0">
              <a:buNone/>
            </a:pPr>
            <a:r>
              <a:rPr lang="en-US" sz="5100" dirty="0"/>
              <a:t>3.Place bids on items. </a:t>
            </a:r>
          </a:p>
          <a:p>
            <a:pPr marL="0" indent="0">
              <a:buNone/>
            </a:pPr>
            <a:r>
              <a:rPr lang="en-US" sz="5100" dirty="0"/>
              <a:t>4.Track highest bid using a Max Heap. </a:t>
            </a:r>
          </a:p>
          <a:p>
            <a:pPr marL="0" indent="0">
              <a:buNone/>
            </a:pPr>
            <a:r>
              <a:rPr lang="en-US" sz="5100" dirty="0"/>
              <a:t>5.Manage bid dependencies using a DAG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3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9B04-68A9-F41B-609E-EA7C8533A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5227"/>
            <a:ext cx="3633216" cy="1325563"/>
          </a:xfrm>
        </p:spPr>
        <p:txBody>
          <a:bodyPr/>
          <a:lstStyle/>
          <a:p>
            <a:r>
              <a:rPr lang="en-IN"/>
              <a:t>Algorithm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3A8A3-F6F1-7EB8-DA02-09EA44AE1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584" y="1075816"/>
            <a:ext cx="11149584" cy="5388992"/>
          </a:xfrm>
        </p:spPr>
        <p:txBody>
          <a:bodyPr>
            <a:normAutofit lnSpcReduction="10000"/>
          </a:bodyPr>
          <a:lstStyle/>
          <a:p>
            <a:r>
              <a:rPr lang="en-US" sz="3000" b="1" dirty="0"/>
              <a:t>Max Heap Insertion Algorithm</a:t>
            </a:r>
            <a:endParaRPr lang="en-US" sz="3000" dirty="0"/>
          </a:p>
          <a:p>
            <a:pPr marL="0" indent="0">
              <a:buNone/>
            </a:pPr>
            <a:r>
              <a:rPr lang="en-US" sz="2600" dirty="0"/>
              <a:t>1.Insert the bid at the end of the heap. </a:t>
            </a:r>
          </a:p>
          <a:p>
            <a:pPr marL="0" indent="0">
              <a:buNone/>
            </a:pPr>
            <a:r>
              <a:rPr lang="en-US" sz="2600" dirty="0"/>
              <a:t>2.Compare with the parent node. </a:t>
            </a:r>
          </a:p>
          <a:p>
            <a:pPr marL="0" indent="0">
              <a:buNone/>
            </a:pPr>
            <a:r>
              <a:rPr lang="en-US" sz="2600" dirty="0"/>
              <a:t>3.Swap if the bid amount is greater. </a:t>
            </a:r>
          </a:p>
          <a:p>
            <a:pPr marL="0" indent="0">
              <a:buNone/>
            </a:pPr>
            <a:r>
              <a:rPr lang="en-US" sz="2600" dirty="0"/>
              <a:t>4.Repeat until heap property is satisfied. 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3000" b="1" dirty="0"/>
              <a:t>Cycle Detection in DAG</a:t>
            </a:r>
            <a:endParaRPr lang="en-US" sz="3000" dirty="0"/>
          </a:p>
          <a:p>
            <a:pPr marL="0" indent="0">
              <a:buNone/>
            </a:pPr>
            <a:r>
              <a:rPr lang="en-US" sz="2600" dirty="0"/>
              <a:t>1.Use Depth First Search (DFS). </a:t>
            </a:r>
          </a:p>
          <a:p>
            <a:pPr marL="0" indent="0">
              <a:buNone/>
            </a:pPr>
            <a:r>
              <a:rPr lang="en-US" sz="2600" dirty="0"/>
              <a:t>2.Track visited nodes and recursion stack. </a:t>
            </a:r>
          </a:p>
          <a:p>
            <a:pPr marL="0" indent="0">
              <a:buNone/>
            </a:pPr>
            <a:r>
              <a:rPr lang="en-US" sz="2600" dirty="0"/>
              <a:t>3.If a node is revisited in the stack, a cycle exists. </a:t>
            </a:r>
          </a:p>
          <a:p>
            <a:pPr marL="0" indent="0">
              <a:buNone/>
            </a:pPr>
            <a:r>
              <a:rPr lang="en-US" sz="2600" dirty="0"/>
              <a:t>4.Reject the dependency to maintain acyclicity.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69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B050-45D6-8017-2E1E-9819C8E3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82297"/>
            <a:ext cx="4712208" cy="923544"/>
          </a:xfrm>
        </p:spPr>
        <p:txBody>
          <a:bodyPr>
            <a:normAutofit/>
          </a:bodyPr>
          <a:lstStyle/>
          <a:p>
            <a:r>
              <a:rPr lang="en-IN"/>
              <a:t>Implementation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7616D-99E3-7918-A269-DFBF66683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1344168"/>
            <a:ext cx="9683496" cy="4818888"/>
          </a:xfrm>
        </p:spPr>
        <p:txBody>
          <a:bodyPr>
            <a:normAutofit fontScale="25000" lnSpcReduction="20000"/>
          </a:bodyPr>
          <a:lstStyle/>
          <a:p>
            <a:r>
              <a:rPr lang="en-IN" sz="9600" dirty="0"/>
              <a:t>Programming Language: C </a:t>
            </a:r>
          </a:p>
          <a:p>
            <a:r>
              <a:rPr lang="en-IN" sz="9600" dirty="0"/>
              <a:t>Follows modular programming principles. </a:t>
            </a:r>
          </a:p>
          <a:p>
            <a:r>
              <a:rPr lang="en-IN" sz="9600" dirty="0"/>
              <a:t>Menu-driven interface for user interaction. </a:t>
            </a:r>
          </a:p>
          <a:p>
            <a:r>
              <a:rPr lang="en-IN" sz="9600" dirty="0"/>
              <a:t>File handling used to store auction data.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sz="12800" b="1" dirty="0"/>
              <a:t>Key Functionalities:</a:t>
            </a:r>
            <a:endParaRPr lang="en-IN" sz="12800" dirty="0"/>
          </a:p>
          <a:p>
            <a:r>
              <a:rPr lang="en-IN" sz="9600" dirty="0"/>
              <a:t>Add Players </a:t>
            </a:r>
          </a:p>
          <a:p>
            <a:r>
              <a:rPr lang="en-IN" sz="9600" dirty="0"/>
              <a:t>Add Items </a:t>
            </a:r>
          </a:p>
          <a:p>
            <a:r>
              <a:rPr lang="en-IN" sz="9600" dirty="0"/>
              <a:t>Place Bids </a:t>
            </a:r>
          </a:p>
          <a:p>
            <a:r>
              <a:rPr lang="en-IN" sz="9600" dirty="0"/>
              <a:t>Show Highest Bid </a:t>
            </a:r>
          </a:p>
          <a:p>
            <a:r>
              <a:rPr lang="en-IN" sz="9600" dirty="0"/>
              <a:t>Display Bid Dependency DAG </a:t>
            </a:r>
          </a:p>
          <a:p>
            <a:r>
              <a:rPr lang="en-IN" sz="9600" dirty="0"/>
              <a:t>Save Data to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21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BB06-4D75-B683-7B51-2127002F0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" y="72517"/>
            <a:ext cx="4319016" cy="878459"/>
          </a:xfrm>
        </p:spPr>
        <p:txBody>
          <a:bodyPr>
            <a:normAutofit/>
          </a:bodyPr>
          <a:lstStyle/>
          <a:p>
            <a:r>
              <a:rPr lang="en-IN"/>
              <a:t>Demo Output: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C95354-B85B-7AB5-A890-D3749742E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131" y="1737360"/>
            <a:ext cx="8868765" cy="4976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F7D59E-6C42-F18B-FAF5-3EA01B291C78}"/>
              </a:ext>
            </a:extLst>
          </p:cNvPr>
          <p:cNvSpPr txBox="1"/>
          <p:nvPr/>
        </p:nvSpPr>
        <p:spPr>
          <a:xfrm>
            <a:off x="2862986" y="950976"/>
            <a:ext cx="4772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>
                <a:solidFill>
                  <a:schemeClr val="accent2"/>
                </a:solidFill>
              </a:rPr>
              <a:t>Sample Menu Output:</a:t>
            </a:r>
          </a:p>
        </p:txBody>
      </p:sp>
    </p:spTree>
    <p:extLst>
      <p:ext uri="{BB962C8B-B14F-4D97-AF65-F5344CB8AC3E}">
        <p14:creationId xmlns:p14="http://schemas.microsoft.com/office/powerpoint/2010/main" val="359513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E475-3450-F2C9-226E-C411288B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132" y="500062"/>
            <a:ext cx="7793736" cy="1325563"/>
          </a:xfrm>
        </p:spPr>
        <p:txBody>
          <a:bodyPr/>
          <a:lstStyle/>
          <a:p>
            <a:r>
              <a:rPr lang="en-US" dirty="0"/>
              <a:t>Online Auction Platform QR code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7E12CA-A6F0-3A7E-05BB-6541C6A5E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152" y="1825625"/>
            <a:ext cx="534009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9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46C0-3748-9997-FD8B-C9A36384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978408" y="3429000"/>
            <a:ext cx="161544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2E25F-8CAA-1D5B-9669-8CF06A73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Vector thank you caligraphic vector illustration concept">
            <a:extLst>
              <a:ext uri="{FF2B5EF4-FFF2-40B4-BE49-F238E27FC236}">
                <a16:creationId xmlns:a16="http://schemas.microsoft.com/office/drawing/2014/main" id="{944B9649-9C0A-488F-AF04-1C6608D5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400" cy="689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567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ONLINE AUCTION SYSTEM USING ADVANCED DATA STRUCTURES</vt:lpstr>
      <vt:lpstr>Problem Statement:</vt:lpstr>
      <vt:lpstr>Real-World Applications</vt:lpstr>
      <vt:lpstr>Data Structures Used :</vt:lpstr>
      <vt:lpstr>System Design :</vt:lpstr>
      <vt:lpstr>Algorithm :</vt:lpstr>
      <vt:lpstr>Implementation :</vt:lpstr>
      <vt:lpstr>Demo Output:</vt:lpstr>
      <vt:lpstr>Online Auction Platform QR code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Maheer</dc:creator>
  <cp:lastModifiedBy>Shaik Maheer</cp:lastModifiedBy>
  <cp:revision>1</cp:revision>
  <dcterms:created xsi:type="dcterms:W3CDTF">2026-04-12T17:22:44Z</dcterms:created>
  <dcterms:modified xsi:type="dcterms:W3CDTF">2026-04-17T10:06:33Z</dcterms:modified>
</cp:coreProperties>
</file>